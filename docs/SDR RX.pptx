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3" r:id="rId4"/>
    <p:sldId id="265" r:id="rId5"/>
    <p:sldId id="266" r:id="rId6"/>
    <p:sldId id="264" r:id="rId7"/>
    <p:sldId id="267" r:id="rId8"/>
    <p:sldId id="27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529"/>
    <p:restoredTop sz="94637"/>
  </p:normalViewPr>
  <p:slideViewPr>
    <p:cSldViewPr snapToGrid="0">
      <p:cViewPr varScale="1">
        <p:scale>
          <a:sx n="63" d="100"/>
          <a:sy n="63" d="100"/>
        </p:scale>
        <p:origin x="18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9:01:57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21486 1 24575,'-68'5'0,"0"0"0,-22 11 0,26-7 0,-9 1 0,4 1 0,-2 4 0,2 0 0,-4 2 0,-2 0 0,-7-2 0,0-1 0,-1-2 0,-1 0 0,1-1 0,0-2 0,1-1 0,1 0 0,5-1 0,1 0 0,6-2 0,2 1 0,9 0 0,3 0 0,-36 1 0,24 0 0,17-1 0,10-2 0,5 2 0,-4 5 0,-8 8 0,-14 9 0,-8 5 0,-3 0 0,4 0 0,10 0 0,7-2 0,2-3 0,-4 0 0,-11 5 0,-21 10 0,27-16 0,-4 2 0,-13 4 0,-4 1 0,-10 3 0,-2 0 0,26-12 0,0 1 0,1-1 0,-26 12 0,1 0 0,7-2 0,2 1 0,7-1 0,3 2 0,7-1 0,2 3 0,3 0 0,2 2 0,3 0 0,1 0 0,1-3 0,1-2 0,1-2 0,-2-2 0,-4-3 0,-2-3 0,-9 1 0,-5-2 0,-17 3 0,-7 0-355,19-5 0,-3 0 0,-1 0 355,-4 2 0,-2 0 0,-1 1 0,-5 2 0,-1 1 0,0 1 0,-1 1 0,0 1 0,1 0 0,3-1 0,2 0 0,-1 0 0,-2 3 0,-1 1 0,3-1 0,5-2 0,1 1 0,3-1 0,5 0 0,1 1 0,2 0-56,5-2 0,2 1 0,2 0 56,-16 8 0,6 0 0,16-6 0,6-2 0,-13 12 0,32-20 0,-2-13 1056,-52-2-1056,17-2 0,-9 2 0,9-1 0,-6 2 0,-1 0-358,-11 3 0,-3 1 0,-1 0 358,-5 1 0,-2 1 0,0 0 0,24-4 0,-1-1 0,1 1 0,1 0 0,-18 2 0,1 1 0,2-1-103,7 0 0,2-1 0,2-1 103,-21 5 0,4-2 0,9-3 0,4-1 0,8-1 0,3-2 0,7 0 0,3 0 0,4-1 0,2 0 0,4 1 0,1 1 615,0 1 1,0 0-616,-44 16 164,44-11 1,-1 2-165,1 0 0,0 1 0,1 0 0,2-1 0,-42 14 0,15-5 0,15-7 0,10-6 0,1-1 0,-9 1 0,-23 6 0,28-5 0,-3 0 0,-11 3 0,-2 0 0,-5 2 0,0 1 0,0-1 0,1 0 0,6 1 0,1 2 0,4-2 0,2 1 0,6 0 0,2-1 0,2 0 0,2-1 0,-41 16 0,8-5 0,-8-3 0,-7-6 0,41-12 0,-2 0 0,-12 3 0,-3 0 0,-8 3 0,-2 0 0,-8 3 0,-1 1 0,-2 1 0,1 1 0,5-1 0,2 0 0,6-2 0,1-1 0,6-4 0,2 0 0,2-3 0,1-1 0,-1-1 0,0-2 0,-2 2 0,-2-1 0,-3 2 0,0 0 0,-2 1 0,2-1 0,2 3 0,1 0 0,7-1 0,3 1 0,8 1 0,3 0 0,-34 13 0,15-2 0,5 5 0,1 0 0,-1 6 0,-4 2 0,5 2 0,2 1 0,10-1 0,8-4 0,3-3 0,0-2 0,-5 1 0,-4 1 0,4-4 0,9-5 0,10-8 0,9-8 0,3-4 0,-2 0 0,-5 1 0,-4 3 0,0 0 0,2-3 0,2-1 0,2 3 0,1 18 0,-11 4 0,-41 8 0,16-12 0,-7 3 0,-22 9 0,-5 4-188,20-6 0,-2 3 0,0 2 188,0 2 0,0 1 0,-1-1 0,0-2 0,0-1 0,1-3 0,6-6 0,0-2 0,2-1 0,-26 5 0,2-4 0,6-4 0,2-4 0,8-4 0,1-2 0,6-3 0,2-3 0,7-3 0,2-2 0,-44-2 564,2 0-564,43 0 0,-2 0 0,-4 1 0,-2-2 0,-2 2 0,-1-2 0,0-1 0,1-3 0,4-3 0,2-2 0,3-1 0,2-1 0,-39-14 0,1 9 0,-7 4 0,41 8 0,-1 1 0,-8 0 0,-1-2 0,-4 0 0,-2-2 0,-1 1 0,1-3 0,1-1 0,2-3 0,3-2 0,2-3 0,2-2 0,3-1 0,3-1 0,1 0 0,2 0 0,1 1 0,-1 0 0,2 1 0,1 0 0,0-2 0,-2-4 0,-1-4 0,-6-6 0,0-6 0,-8-7 0,-2-6 0,14 8 0,0-4 0,0-3-358,-2-4 0,0-2 1,0-3 357,-1-7 0,0-2 0,1-2 0,1-4 0,2-2 0,1 1 0,3 2 0,1 0 0,2 0 0,1 0 0,1 0 0,3 0 0,6 5 0,2 0 0,4 1-87,4 4 1,4-1-1,3 1 87,-2-29 0,7 1 0,8 8 0,7 2 0,9 9 0,6 5 0,5 12 0,5 5 0,4 11 0,5 5 0,37-20 1059,-7 13-1059,4-4 137,-32 20 0,2-2-137,8-7 0,3-1 0,4-4 0,2 1 0,2 1 0,1 1 0,-2 6 0,-2 3 0,-6 7 0,-1 3 0,43-6 0,-4 14 0,9 11 0,-40 2 0,3-1 0,11-2 0,3-2 0,10-3 0,3-2 0,5-3 0,1-2 0,-3-1 0,-2 1 0,-4 3 0,-1 1 0,-10 1 0,-2 2 0,-8 3 0,-1 2 0,-5 0 0,-2 2 0,42-2 0,-11 4 0,-6 5 0,1 13 0,-35-2 0,1 4 0,10 5 0,3 3 0,6 3 0,3 0 0,9 2 0,2-2 0,-1 1 0,-1-2 0,-2-1 0,-1-1 0,-5 0 0,-2 1 0,-10-2 0,-3 0 0,-5-1 0,-3 0 0,30 26 0,-16 0 0,-9 5 0,1 10 0,5 11 0,-26-36 0,2 1 0,5 5 0,1 0 0,4 4 0,2 0 0,3 2 0,0 0 0,0 1 0,1-2 0,-4-3 0,0-1 0,-6-5 0,-3 0 0,-4-5 0,-2-1 0,21 34 0,-7 1 0,-4-6 0,-5-3 0,-2-7 0,-8-8 0,-4 0 0,0 3 0,-3 5 0,3 2 0,-1-1 0,-4-7 0,-4-8 0,-4-6 0,-1-5 0,-2-2 0,1 0 0,-2 0 0,0 0 0,0-4 0,0 0 0,4 0 0,-3 0 0,2 1 0,0-5 0,-2-3 0,-1-4 0,0 3 0,0 6 0,5 6 0,1 4 0,-2-1 0,-4-7 0,-3-6 0,-3 1 0,-1 0 0,0 1 0,1-2 0,3-4 0,-1-3 0,7 4 0,-1 0 0,2 1 0,0-2 0,-6-7 0,-7-13 0,-22-13 0,14 3 0,-13-1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9:02:06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9:02:55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6681 5871 24575,'-48'0'0,"-33"0"0,25-2 0,-5 0 0,-19-1 0,-4 0 0,-9-4 0,-2-2 0,-4-1 0,0-1 0,31 4 0,-1-1 0,2 1 0,-27-6 0,2 0 0,9 2 0,0-1 0,4 0 0,0-1 0,2-3 0,0-1 0,3-2 0,1-1 0,-3-1 0,0 0 0,5 2 0,0 1 0,5 3 0,1 2 0,5 5 0,2 1 0,-36-3 0,19 2 0,16 0 0,10-3 0,0 1 0,-3 2 0,-6 4 0,-5 1 0,-4-2 0,0-3 0,-4-2 0,-6-1 0,-8-3 0,-11-2 0,47 7 0,0 0 0,-2-1 0,0-2 0,-4-1 0,0-2 0,-2-1 0,-2-1 0,-9-1 0,-2-2 0,-12-5 0,-2-5 0,24 5 0,-1-3 0,0-4-279,-5-6 1,0-4 0,2-4 278,0-5 0,2-4 0,2-2 0,2-4 0,2-3 0,3-1 0,2-1 0,2 0 0,3 0 0,5 5 0,2 1 0,2 0 0,-14-21 0,3 2 0,8 12 0,3 3 0,5 10 0,2 0 0,2 3 0,2 1 0,3 5 0,2 0 0,-17-35 835,1 11-835,-1 10 0,-13 0 0,-16 3 0,-14 3 0,33 26 0,-2 1 0,-5 1 0,0 0 0,-3 0 0,0-1 0,-1-1 0,0-2 0,2 0 0,1-1 0,5-3 0,1-2 0,3-3 0,3-2 0,4-1 0,3-3 0,5 3 0,4-1 0,-18-36 0,15 7 0,13 0 0,8-6 0,7-10 0,3 36 0,4-1 0,4-5 0,6-2 0,7-8 0,6 0 0,6-2 0,5 1 0,4 2 0,2 2 0,-2 7 0,0 2 0,-4 10 0,1 3 0,0 6 0,1 4 0,44-16 0,-37 29 0,3 5 0,5 2 0,1 3 0,5 1 0,2 2 0,2 0 0,1 2 0,4-1 0,1-1 0,5-1 0,2 0 0,4 0 0,1-2 0,9-3 0,2-1 0,-29 3 0,1-1 0,1 0 0,31-8 0,-1 0 0,-4 0 0,-4 1 0,-14 2 0,-3 2 0,-12 1 0,-4 3 0,37-4 0,-10 6 0,7 7 0,-36 5 0,2 2 0,7 3 0,2 0 0,4 2 0,1 0 0,-1 0 0,-1 0 0,-7-3 0,-2-1 0,-5-1 0,-2-1 0,41 1 0,5-3 0,-44-2 0,2-2 0,6 2 0,3-2 0,7-2 0,0-2 0,0-4 0,-1-2 0,-6-2 0,-2-2 0,-13-1 0,-4 0 0,16-5 0,-20 10 0,-12 8 0,5 3 0,15 0 0,11 0 0,9 0 0,1 0 0,-9 0 0,4 0 0,1-6 0,9-11 0,12-13 0,-4-5 0,-3 5 0,-13 9 0,-7 13 0,-4 5 0,-3 3 0,7 4 0,11 7 0,14 9 0,-34-6 0,2 2 0,1 1 0,0 2 0,0 2 0,-3 1 0,-3 2 0,-3 2 0,-4 3 0,-1 1 0,35 34 0,-36-30 0,1 0 0,4 1 0,2 0 0,0 0 0,1 1 0,2-1 0,-1 1 0,-2-1 0,-3 1 0,-3-2 0,-4 1 0,27 34 0,-15 8 0,-11 7 0,-21-37 0,-1 1 0,12 37 0,-15-33 0,-1 3 0,-1 18 0,-1 4 0,-2 14 0,-1 5 0,-2-24 0,-1 1 0,-1-1 0,0 27 0,-2-4 0,0-19 0,-2-5 0,1-17 0,0-3 0,0 26 0,0-18 0,0 4 0,0 15 0,0 13 0,0-37 0,0 2 0,0 1 0,0 0 0,0-2 0,0 1 0,1 1 0,-2 1 0,-1-2 0,-2-1 0,-1 4 0,-2 0 0,-1 3 0,-2 0 0,-2 1 0,-2 0 0,0 4 0,-1 0 0,-3 0 0,-3 1 0,-1-3 0,-3-1 0,-1-6 0,-2-3 0,0-6 0,-1-3 0,-23 28 0,7-15 0,10-11 0,8-9 0,0-2 0,0-2 0,-5 4 0,-7 5 0,-8 6 0,-6 10 0,0 5 0,-4 0 0,2-4 0,0-8 0,-2-6 0,3-10 0,1-10 0,0-8 0,1-4 0,-2-2 0,0-2 0,3-3 0,14-2 0,10 1 0,4-3 0,-1-1 0,-15-2 0,-16-1 0,-13-3 0,-15-8 0,-6-5 0,0-5 0,-2 3 0,4 4 0,7 4 0,16 4 0,18 2 0,21 2 0,8-2 0,-10 0 0,-23-10 0,-37-13 0,27 7 0,-4-3 0,-17-10 0,-3-2 0,2 1 0,3 0 0,8 3 0,5 2 0,12 4 0,5 3 0,-13-6 0,1 3 0,-2 0 0,-3-4 0,1 2 0,3-2 0,0 1 0,-4-6 0,-12-7 0,-9-4 0,40 21 0,1 0 0,-42-20 0,10 3 0,10 4 0,6 5 0,1-1 0,-2-1 0,-5 1 0,-3 3 0,3 4 0,2 2 0,5-1 0,2-4 0,-3-7 0,-2-2 0,-2-2 0,-1-1 0,1 0 0,-1 0 0,-4-2 0,-1-3 0,0-2 0,1-2 0,4-4 0,-5-6 0,32 25 0,-2-3 0,-7-6 0,-2-2 0,-8-5 0,-2-1 0,-1 0 0,-1 0 0,1 4 0,1 2 0,5 6 0,1 2 0,6 4 0,2-1 0,4-1 0,3-2 0,4 0 0,3-3 0,5-5 0,3-3 0,3-3 0,4-2 0,2-3 0,4-1 0,2-5 0,1-1 0,2 0 0,0-1 0,2 1 0,0 0 0,0 2 0,1 2 0,1 7 0,1 2 0,-1-40 0,4 4 0,18-6 0,-2 39 0,7-1 0,15-13 0,7-1 0,5 0 0,3 1 0,-5 7 0,1 4 0,-4 8 0,0 5 0,23-14 0,3 3 0,-29 24 0,0 0 0,1-2 0,1 0 0,-1 0 0,0 0 0,0 4 0,-1 1 0,33-18 0,3 7 0,9 0 0,-38 16 0,1 1 0,7-2 0,2 1 0,4-2 0,2 2 0,2 1 0,1 1 0,1 1 0,2 1 0,2 1 0,1 1 0,1 0 0,1 1 0,5-2 0,1 1 0,5 1 0,2 0 0,3 0 0,1 2 0,-28 5 0,0 2 0,1 1 0,32 0 0,1 1 0,-33 3 0,-1 0 0,1 1-185,4 1 0,0 0 0,1 0 185,2-1 0,1-1 0,0-1 0,5-1 0,-1 0 0,1-1 0,1-2 0,-1-1 0,0-1 0,0-1 0,0-2 0,0 0 0,-1-1 0,0-1 0,-1-1 0,-1-1 0,0 0 0,-1-1 0,1 1 0,-1-1 0,0 1 0,-3 1 0,0 0 0,0 1 0,-5 2 0,0 0 0,-1 1 0,27-4 0,-3 3 0,-14 2 0,-4 2 0,-11 2 0,-3 1 0,-8 2 0,-2 2 0,39 1 0,10 0 0,-35 0 0,5 0 0,16 0 0,6 0-207,-17-2 0,2 0 0,3-1 207,12-2 0,3-1 0,1 0 0,-19 1 0,0-1 0,1 0 0,1 1-373,3-2 1,1 1 0,0 0 0,1 0 372,2 1 0,0 0 0,1 2 0,-2-1 0,-2 2 0,-2 0 0,1 1 0,-1-1 0,0 1 0,-1 0 0,1 0 0,-2 1-313,22 0 0,-1 0 0,-3 0 313,-7 0 0,-1 1 0,-3-2 0,-6-1 0,-2 0 0,-2-2 0,21-2 0,-5-2 0,-12-2 0,-1-1 0,4-2 0,2-3 0,-19 4 0,2-1 0,1 0 29,10-4 1,2 0-1,2-1-29,10-2 0,2 0 0,1 1 0,1 0 0,1 1 0,-1 2 0,-5 2 0,0 1 0,-2 2 0,-8 2 0,-2 2 0,-3 1 709,21 1 1,-5 1-710,-14 2 0,-3 1 511,-7 0 0,-1 2-511,1-1 0,1 0 0,1 0 0,0 0 0,6 0 0,3 0 0,5 0 0,3 0 0,6 0 0,3 0 0,-28 0 0,2 0 0,1 0 204,2 0 1,1 0-1,0 0-204,0 0 0,-1 0 0,0 0 0,-2 0 0,0 0 0,-1 0 0,31 0 0,-2 0 0,-9 0 0,-2 0 0,-4 0 0,-2 0 0,-4 0 0,-1 0 0,-2 0 0,1 0 0,5 0 0,2 0 0,3 0 0,2 0 0,6-1 0,3 2 0,-28 0 0,2 2 0,0 0-276,7 2 0,1 0 0,1 1 276,4 2 0,1 1 0,1 1 0,4 2 0,1 1 0,0 0 0,2 1 0,0 1 0,0 2 0,-2 1 0,0 2 0,-1 2 0,-4 1 0,0 2 0,-3 3 0,-4 1 0,-3 3 0,-1 3 0,-4 2 0,-2 3 0,-1 1 0,-2-1 0,-2 2 0,1-1 0,0 1 0,0-1 0,0-1 0,0-1 0,1 0 0,0-3 0,0-2 0,0-1 0,0-1 0,-1-1 0,0 0 0,-1-1 44,1 0 0,-1-1 0,0 1-44,-3-1 0,0 1 0,-1 1 0,29 16 0,-2 2 0,-2 3 0,-2 2 0,-4 0 0,-1 1 0,-5-3 0,-1-1 0,-7-4 0,0-3 0,-5-7 0,0-5 0,-4-4 0,0-4 0,1-2 0,2-3 417,2 0 0,1-1-417,0 2 0,0 2 162,0 2 0,-1 3-162,-3 2 0,-3 2 0,-1 2 0,-2 2 0,-2 0 0,0 0 0,0-4 0,1-1 0,3-3 0,3-2 0,1-2 0,2-3 0,4-3 0,1-3 0,2-1 0,-1-1 0,1 0 0,-1-1 0,-1-1 0,-1-1 0,-2 2 0,-1 0 0,-3 0 0,-1 0 0,40 8 0,-17-1 0,-20-4 0,-16-3 0,-9-3 0,6 4 0,21 5 0,30 6 0,-32-7 0,3 0 0,3 2 0,1 1 0,-5 1 0,-3 2 0,-8-3 0,-4 2 0,21 16 0,-19-3 0,-14 4 0,-6 5 0,0 13 0,2 16 0,1 17 0,-15-36 0,0 3 0,-2 4 0,0 1 0,-2 0 0,0 0 0,1 2 0,0-2 0,-4-9 0,0-3 0,4 23 0,-3-26 0,-6-16 0,0 14 0,-2 23 0,-2 17 0,0 0 0,0-17 0,0-30 0,0-18 0,0-16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9:03:16.29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13572 3919 16383,'-51'18'0,"-33"26"0,21-8 0,-5 3 0,-13 11 0,-4 2 0,25-16 0,-1-1 0,-1 0 0,-4 2 0,0 0 0,-1-1 0,-5 2 0,-1 0 0,-2-1 0,-3 0 0,-1-2 0,-3 0 0,13-7 0,-3 0 0,-2-1 0,0 0 0,-6 0 0,-1-1 0,-1 0 0,0-2 0,0 0 0,-1-2 0,0 0 0,0-2 0,0 1 0,-2-1 0,2-1 0,1-2 0,-16 2 0,2-1 0,3-2 0,7-2 0,3-2 0,1 0 0,8-1 0,1 0 0,4-1 0,-19 2 0,5 0 0,9-2 0,4 0 0,10-2 0,0-1 0,0-1 0,0 1 0,-2-1 0,-1 1 0,-5-1 0,-1 0 0,-6-2 0,0-1 0,0-1 0,0 0 0,3-2 0,1 0 0,7 1 0,4 2 0,-38 4 0,24 5 0,11 4 0,-5 4 0,-23 7 0,30-10 0,-5 0 0,-13 3 0,-5 0 0,-10 1 0,-3-1 0,28-6 0,-2 0 0,1-1 0,1-2 0,1 0 0,0-2 0,-27 1 0,2-1 0,10-4 0,5-1 0,13-1 0,3-1 0,-34 3 0,33-1 0,25-2 0,14-2 0,11 0 0,-3 0 0,-8 0 0,-39 0 0,-27 0 0,37 1 0,-2 1 0,0 0 0,3 1 0,-28 1 0,14 0 0,14-4 0,11 0 0,10 0 0,8 0 0,-9 0 0,-34 0 0,14 0 0,-6 0 0,-16-2 0,-4-2 0,-10-3 0,-2-3 0,-1-5 0,-1-5 0,-1-4 0,-2-4 0,28 7 0,-1-2 0,0 0 0,-2-1 0,0 0 0,-1 0 0,-1-1 0,0 0 0,0-1 0,4 1 0,1-1 0,1-1 0,-24-11 0,4 0 0,4 0 0,2 0 0,4 4 0,-1 3 0,2 4 0,-1 4 0,0 6 0,0 4 0,4 5 0,3 3 0,7 1 0,2 0 0,6 0 0,1-1 0,-39-10 0,0-9 0,-3-4 0,44 13 0,1-2 0,-1-1 0,1 0 0,1 2 0,1 0 0,-41-11 0,11 2 0,3-1 0,-4-7 0,31 12 0,-3-2 0,-7-4 0,-1-1 0,-4-7 0,-1-1 0,0-5 0,2-2 0,6-2 0,3-3 0,5 1 0,2 1 0,5 3 0,3 1 0,-25-27 0,14 20 0,15 12 0,7 12 0,5 1 0,-4 0 0,-5 0 0,-6-2 0,-3 2 0,-3 1 0,-1 1 0,-5-3 0,-6-9 0,-8-18 0,27 18 0,1-3 0,-4-5 0,1-2 0,-2-3 0,1 0 0,3 4 0,2 2 0,-24-29 0,15 13 0,7 10 0,5 3 0,0 0 0,-4-1 0,-4-5 0,-3-3 0,-7-4 0,-1-5 0,-1-6 0,3-10 0,1-10 0,24 39 0,2-1 0,2 0 0,1-1 0,-1 2 0,3 0 0,-10-37 0,6 10 0,5 6 0,8 4 0,4-1 0,3 1 0,0 3 0,0 5 0,0 9 0,0 9 0,0 2 0,0 2 0,0-8 0,1-14 0,3-7 0,9-11 0,5 0 0,3 10 0,3 11 0,0 11 0,6 2 0,15-1 0,28-17 0,-25 26 0,4 1 0,8-2 0,3 1 0,-1 0 0,-1 2 0,-7 7 0,-2 2 0,32-13 0,-17 11 0,-4 0 0,5-5 0,9-5 0,1-2 0,-3 7 0,-5 1 0,-8 0 0,0-1 0,3-3 0,11-1 0,12-1 0,-41 19 0,2 1 0,0 0 0,-1 2 0,2 1 0,0 1 0,1 3 0,2 1 0,-1 0 0,1 0 0,2 0 0,-1 1 0,1 1 0,-1 0 0,4 0 0,0 1 0,3 2 0,1 0 0,6 2 0,2 0 0,7 0 0,0 0 0,0 1 0,-1 0 0,-3 1 0,-2 1 0,-9 0 0,-3 2 0,30 7 0,-15 1 0,-11 2 0,4 1 0,11 4 0,15 6 0,-42-11 0,1 2 0,1 4 0,-2 3 0,-2 0 0,-2 2 0,35 30 0,-11 8 0,-4 4 0,-3 6 0,-32-33 0,0 1 0,1 4 0,0 2 0,1 4 0,0 1 0,3 2 0,-1 1 0,-1-2 0,-1-1 0,-3-3 0,-3 0 0,-2-5 0,-3 0 0,16 37 0,-6-7 0,-3-7 0,-5-6 0,-8 2 0,-4 6 0,-1 13 0,1 11 0,-4-42 0,1 1 0,1 0 0,1 1 0,1-2 0,-1 0 0,1-3 0,0 1 0,13 45 0,-4 0 0,-10-44 0,-1 1 0,-2 2 0,-1 1 0,-1 2 0,-3 0 0,0-1 0,-2 0 0,-1-4 0,-1-1 0,0 48 0,0-5 0,0 1 0,0 1 0,-4-8 0,-4-7 0,-4-10 0,-3-5 0,1-3 0,2 3 0,-3 1 0,-3 6 0,-4 3 0,-3-5 0,0-3 0,2-8 0,-1-6 0,-2-5 0,1-2 0,1-5 0,1-4 0,3-4 0,-1-8 0,-1-3 0,-1-1 0,-4 0 0,-3 5 0,-5 3 0,1 1 0,-4-1 0,4-3 0,-1-4 0,-4 0 0,-1-3 0,-6 1 0,2-4 0,0-6 0,0 0 0,-4-1 0,-5 0 0,-7 1 0,-9 1 0,-9 1 0,-12 0 0,-9-5 0,47-5 0,-1-2 0,-4 1 0,0-2 0,-1 0 0,1 0 0,3-1 0,0-1 0,2-2 0,1-3 0,-43-15 0,8-9 0,1 0 0,6 1 0,2 1 0,-4-2 0,-2-8 0,-1-4 0,2-1 0,12 3 0,14 10 0,17 10 0,21 11 0,9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F7641-2691-EF47-A5B8-C6179F95F50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2FA1C-AD51-0E4D-8FC0-6AC5D2FF8E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essentials of how the Pi‑Pico SDR works — the Tayloe detector, how we get baseband, and what the Pico does to turn RF into audio.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15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SDR moves complexity from hardware into software. That’s why this design is so simple.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39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whole design in one line. Everything else is detail.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8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Tayloe detector is elegant, low‑noise, and perfect for HF.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24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heart of the detector. The capacitors turn fast RF into slow audio‑range signals.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715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I/Q is the foundation of modern SDR. Without it, you can’t do SSB cleanly.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763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signals are digital, everything else is software.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07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digital equivalent of 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superhet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receiver — all inside a £4 microcontroller.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24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design is simple, elegant, and genuinely capable. It’s the perfect project to bring together everything SEMARC has been doing.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2FA1C-AD51-0E4D-8FC0-6AC5D2FF8E0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58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BDD1-ECB3-B279-6242-B850160DF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F94A-9482-1E8B-C2AD-F8886DC6A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54B98-5884-8807-7EAD-912ED80B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FDCE-9D4A-1484-4CEE-4C435BDE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F2AF-4977-731B-D313-4455E2539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1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0344-4DEE-C02C-3192-E5C0AF5B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AA17-F429-EEC5-4C17-08E910E23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776A5-66C7-262F-B1C3-169A6842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6EFA-D74E-FFCC-826F-961B6C77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D1E1-193C-8B52-3CD8-AEDBF933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8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9946-5F69-7087-40B2-151A3D6D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7D19C-BE49-CA9B-CBFE-F47A6B8EE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9C31D-CCDF-B553-E57E-C2B036D3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66841-4041-6921-B601-55C339DA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280F4-CE81-DE17-03B9-2D1AC6CA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5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ACD8-223B-40C5-43CD-1166FF2C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3AEC7-EBD6-E7CD-F7C4-AA750A791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41201-416D-3E2A-61F2-EBDF2B7C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D5E6A-903A-24F2-D28D-EE45A0CE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26CEF-A248-C641-6888-863EEBBB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830FC-A249-C415-B6B6-A8C98067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1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D21B-6BD6-6805-2C3F-8835F3F8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F432A-ECD5-5590-DFB6-BB07DC518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C8053-2D22-CDBC-81DD-CBC8ADE26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BE178-273C-56DA-15E8-A97732293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70342-715B-0BEA-05EF-F0DF59DFB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E3CF8-73B9-102D-A16F-146F2BDF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00B15-33FA-43C8-EEE8-DC8920B1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E2B8B-D92B-57DB-0368-4EDBC535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12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0D91-6D4F-2C9A-3D8E-432734BC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83D7A-2B98-3F79-D916-8FF70193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4F3AC-799D-DCBE-8E79-A003A477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A0A58-89F6-9ED6-C0E3-35BF4ABD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3DD34-428A-F598-EAC5-881EB8DC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61CE8-EB8B-D453-53B8-11B15BC6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55355-627F-95C6-9A01-355BBA85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40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A0F3-8DEC-3DD2-C30F-A53B357C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5552-B656-019F-F014-3E4EE8E6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D0A61-D96B-8884-5A7F-E4DD122C8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EEB97-3B5E-3358-F05E-87BC2C30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D7B7F-6BB2-65C8-38C6-846D3026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8FF82-AC30-5EB7-3A9E-2769F68D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58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5682-993A-73F5-9672-8A715866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27E67-0D49-831E-B027-647E733F8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EAF9E-3809-A117-1FF7-092BCE0DD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BC74D-B1D8-4A07-87AB-470037B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6EC91-26C8-B538-1E59-C2D58125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D68A7-8AC2-50D8-6CDD-32790A38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62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97C8-F510-D615-6752-8DE42F7D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6EDD8-B2F6-5BF4-FBB1-57A8A24E7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9951A-6395-4FF0-F45E-F197081A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7F41E-667C-4B44-2168-C26D1834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0349-90E8-6F40-E05D-29999160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9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EE9488-82FF-9F96-636D-06BFD664C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1F1D9-335F-4D01-883A-EBFF39C88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6D13E-1A37-21FE-25D6-310881C2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342D-A227-59E0-94DA-9C50B0E0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E9B30-5D8D-DEF3-E557-D96F10E3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03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2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4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73D63-9081-39A5-B98E-CF0ABE70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E805F-6814-9A73-6117-21C121C0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63C2-4AF4-906D-F4A4-8BD7DC16C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4ABFD-5C56-744F-8CF7-BB8EBD3D26B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E2A49-9BC6-3B79-6292-2C50FAFCF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2D215-356C-D95F-D4BF-9EEE9EE6E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89C3A-D104-A84E-93BA-07D2F0FA76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88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adafruit.com/2022/06/23/updated-guide-freq-show-raspberry-pi-rtl-sdr-scanne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39D5F9-4FB1-2DC5-640F-EA4998DC72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0628" y="477762"/>
            <a:ext cx="9622972" cy="5902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1C33E5-9BC8-7400-DCEE-2C13F172906A}"/>
              </a:ext>
            </a:extLst>
          </p:cNvPr>
          <p:cNvSpPr txBox="1"/>
          <p:nvPr/>
        </p:nvSpPr>
        <p:spPr>
          <a:xfrm>
            <a:off x="3031067" y="477762"/>
            <a:ext cx="672253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SDR Works </a:t>
            </a:r>
          </a:p>
          <a:p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GB" sz="24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How the Pi‑Pico SDR Pulls It Off</a:t>
            </a:r>
          </a:p>
          <a:p>
            <a:pPr algn="r"/>
            <a:endParaRPr lang="en-GB" sz="2400" i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n-GB" sz="2400" i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GB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Tayloe Detector → Baseband → DSP → Audio</a:t>
            </a:r>
          </a:p>
          <a:p>
            <a:pPr algn="r"/>
            <a:endParaRPr lang="en-GB" sz="2400" i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669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22DB-EB65-ED96-43F4-2108F406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r>
              <a:rPr lang="en-GB" sz="5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SDR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64A53-43D9-D86E-BA0E-144DB24C03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04004-45B9-09A0-3626-A94B1C16DE26}"/>
              </a:ext>
            </a:extLst>
          </p:cNvPr>
          <p:cNvSpPr txBox="1"/>
          <p:nvPr/>
        </p:nvSpPr>
        <p:spPr>
          <a:xfrm>
            <a:off x="1102177" y="2567226"/>
            <a:ext cx="10480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The Pi‑Pico HF Receiver &amp; the Tayloe Detector</a:t>
            </a:r>
          </a:p>
          <a:p>
            <a:pPr algn="ctr"/>
            <a:endParaRPr lang="en-GB" dirty="0"/>
          </a:p>
        </p:txBody>
      </p:sp>
      <p:pic>
        <p:nvPicPr>
          <p:cNvPr id="9" name="Picture 8" descr="A close-up of a small display&#10;&#10;AI-generated content may be incorrect.">
            <a:extLst>
              <a:ext uri="{FF2B5EF4-FFF2-40B4-BE49-F238E27FC236}">
                <a16:creationId xmlns:a16="http://schemas.microsoft.com/office/drawing/2014/main" id="{F810B7BC-AE80-A08F-7FF1-F3BEBA5083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62992" y="3429000"/>
            <a:ext cx="5866016" cy="29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6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3271-B64E-A143-2BFF-98160F19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D408-B699-5070-0F65-40F27029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0BEB9-17A7-E338-A175-4FCE9EB0B8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7A48C-BCDF-ABF4-4105-9E3B05AF5602}"/>
              </a:ext>
            </a:extLst>
          </p:cNvPr>
          <p:cNvSpPr txBox="1"/>
          <p:nvPr/>
        </p:nvSpPr>
        <p:spPr>
          <a:xfrm>
            <a:off x="3571875" y="1122548"/>
            <a:ext cx="705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SDR?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E360F-420F-C7C7-B9B5-B34D67A7F616}"/>
              </a:ext>
            </a:extLst>
          </p:cNvPr>
          <p:cNvSpPr txBox="1"/>
          <p:nvPr/>
        </p:nvSpPr>
        <p:spPr>
          <a:xfrm>
            <a:off x="901278" y="2983981"/>
            <a:ext cx="51947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Traditional radio:  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RF → mixer → IF filters → detector → audio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A5EDC-592D-BFA3-C262-20C38D70E6CE}"/>
              </a:ext>
            </a:extLst>
          </p:cNvPr>
          <p:cNvSpPr txBox="1"/>
          <p:nvPr/>
        </p:nvSpPr>
        <p:spPr>
          <a:xfrm>
            <a:off x="901278" y="4734322"/>
            <a:ext cx="554209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SDR:  </a:t>
            </a:r>
          </a:p>
          <a:p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RF → simple front‑end → ADC → software → audio</a:t>
            </a:r>
          </a:p>
          <a:p>
            <a:endParaRPr lang="en-GB" dirty="0"/>
          </a:p>
        </p:txBody>
      </p:sp>
      <p:pic>
        <p:nvPicPr>
          <p:cNvPr id="12" name="Picture 11" descr="A diagram of a radio receiver&#10;&#10;AI-generated content may be incorrect.">
            <a:extLst>
              <a:ext uri="{FF2B5EF4-FFF2-40B4-BE49-F238E27FC236}">
                <a16:creationId xmlns:a16="http://schemas.microsoft.com/office/drawing/2014/main" id="{C2E13476-8711-8B4B-6E63-CD873A18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371" y="2979683"/>
            <a:ext cx="5043431" cy="29389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63D930-DE17-1965-EE96-4613AC5FCF49}"/>
              </a:ext>
            </a:extLst>
          </p:cNvPr>
          <p:cNvSpPr txBox="1"/>
          <p:nvPr/>
        </p:nvSpPr>
        <p:spPr>
          <a:xfrm>
            <a:off x="1102178" y="2140980"/>
            <a:ext cx="933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Software‑Defined Radio = radio where software does the heavy lifting.</a:t>
            </a:r>
          </a:p>
        </p:txBody>
      </p:sp>
    </p:spTree>
    <p:extLst>
      <p:ext uri="{BB962C8B-B14F-4D97-AF65-F5344CB8AC3E}">
        <p14:creationId xmlns:p14="http://schemas.microsoft.com/office/powerpoint/2010/main" val="96688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F8F9-67D0-9816-B3C8-7496CC0C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8CD3C3-C276-785D-ED04-CC95E7B927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6411A4-91B7-ECB7-979A-7CA08FCF7B8E}"/>
              </a:ext>
            </a:extLst>
          </p:cNvPr>
          <p:cNvSpPr txBox="1"/>
          <p:nvPr/>
        </p:nvSpPr>
        <p:spPr>
          <a:xfrm>
            <a:off x="3721504" y="1138538"/>
            <a:ext cx="8348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and Why is an SDR possible as a club project?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87F95-E295-9F4A-E99B-65A7697EB1A6}"/>
              </a:ext>
            </a:extLst>
          </p:cNvPr>
          <p:cNvSpPr txBox="1"/>
          <p:nvPr/>
        </p:nvSpPr>
        <p:spPr>
          <a:xfrm>
            <a:off x="1750892" y="2690336"/>
            <a:ext cx="86902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enablers:</a:t>
            </a:r>
          </a:p>
          <a:p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 microcontrollers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Cheap, accurate ADCs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RF front‑ends (like the Tayloe detector)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24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7034-943A-DF2C-8EAD-EEB1C02E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DCD0-F1F0-0E9C-9D4C-12CD34A2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C218F-CF62-9AD0-4492-7665801FD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8E920C-4BA3-25AB-313C-F555CE281351}"/>
              </a:ext>
            </a:extLst>
          </p:cNvPr>
          <p:cNvSpPr txBox="1"/>
          <p:nvPr/>
        </p:nvSpPr>
        <p:spPr>
          <a:xfrm>
            <a:off x="3571875" y="830160"/>
            <a:ext cx="7781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SEMARC Pi‑Pico SDR in One Sentence!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4D82A-79D0-E5D1-BA91-189859E3EA66}"/>
              </a:ext>
            </a:extLst>
          </p:cNvPr>
          <p:cNvSpPr txBox="1"/>
          <p:nvPr/>
        </p:nvSpPr>
        <p:spPr>
          <a:xfrm>
            <a:off x="1102178" y="3059083"/>
            <a:ext cx="101033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Tayloe detector produces I/Q baseband, </a:t>
            </a:r>
          </a:p>
          <a:p>
            <a:r>
              <a:rPr lang="en-GB" sz="36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Pico digitises it, and software turns it into audio.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524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D69F-4BA7-DD13-3B3F-DB6F81265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2E74-85CF-5814-7249-0B5AF796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165B4-516D-319E-A42B-07A1614229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9D1E60-3CC1-EA60-F3F4-597B373283FC}"/>
              </a:ext>
            </a:extLst>
          </p:cNvPr>
          <p:cNvSpPr txBox="1"/>
          <p:nvPr/>
        </p:nvSpPr>
        <p:spPr>
          <a:xfrm>
            <a:off x="3571876" y="764771"/>
            <a:ext cx="7781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Pictorial Diagram</a:t>
            </a:r>
          </a:p>
          <a:p>
            <a:endParaRPr lang="en-GB" dirty="0"/>
          </a:p>
        </p:txBody>
      </p:sp>
      <p:pic>
        <p:nvPicPr>
          <p:cNvPr id="7" name="Picture 6" descr="A circuit board with many wires&#10;&#10;AI-generated content may be incorrect.">
            <a:extLst>
              <a:ext uri="{FF2B5EF4-FFF2-40B4-BE49-F238E27FC236}">
                <a16:creationId xmlns:a16="http://schemas.microsoft.com/office/drawing/2014/main" id="{BAD6FBDB-C127-E2BA-D4B0-AEAF7450E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78" y="2071757"/>
            <a:ext cx="6633876" cy="37315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995F4-804A-BB40-7F64-A230EE73E6A8}"/>
              </a:ext>
            </a:extLst>
          </p:cNvPr>
          <p:cNvSpPr txBox="1"/>
          <p:nvPr/>
        </p:nvSpPr>
        <p:spPr>
          <a:xfrm>
            <a:off x="7736054" y="3151836"/>
            <a:ext cx="3805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Antenna → Tayloe Detector → Op‑Amp → Pico ADC → DSP → Audio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2F2AB5-909C-65A2-A9BA-8468D00EC6B2}"/>
                  </a:ext>
                </a:extLst>
              </p14:cNvPr>
              <p14:cNvContentPartPr/>
              <p14:nvPr/>
            </p14:nvContentPartPr>
            <p14:xfrm>
              <a:off x="562240" y="3443320"/>
              <a:ext cx="7734960" cy="2000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2F2AB5-909C-65A2-A9BA-8468D00EC6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600" y="3434680"/>
                <a:ext cx="7752600" cy="20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10A44B6-7A99-D404-8E25-4DE1DCF48DAC}"/>
                  </a:ext>
                </a:extLst>
              </p14:cNvPr>
              <p14:cNvContentPartPr/>
              <p14:nvPr/>
            </p14:nvContentPartPr>
            <p14:xfrm>
              <a:off x="9627400" y="333460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10A44B6-7A99-D404-8E25-4DE1DCF48D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18400" y="33259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04CCB6-2B20-7F05-2862-2BC24CFD8B18}"/>
                  </a:ext>
                </a:extLst>
              </p14:cNvPr>
              <p14:cNvContentPartPr/>
              <p14:nvPr/>
            </p14:nvContentPartPr>
            <p14:xfrm>
              <a:off x="905680" y="1790200"/>
              <a:ext cx="8400240" cy="2157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04CCB6-2B20-7F05-2862-2BC24CFD8B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7040" y="1781200"/>
                <a:ext cx="8417880" cy="21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29FF42-8C3C-54C2-DCFA-4DC16FD96D21}"/>
                  </a:ext>
                </a:extLst>
              </p14:cNvPr>
              <p14:cNvContentPartPr/>
              <p14:nvPr/>
            </p14:nvContentPartPr>
            <p14:xfrm>
              <a:off x="3635920" y="2347840"/>
              <a:ext cx="4886280" cy="1993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29FF42-8C3C-54C2-DCFA-4DC16FD96D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8280" y="2239840"/>
                <a:ext cx="4921920" cy="22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116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6C3B-1629-1F01-8A62-8DC2EB31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9DB0-B817-CEBE-27F0-4BFA16A7D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F0E71-FC4E-29D8-1847-1ADEC76B3A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E8BB5F9-9A87-FF2D-DB4D-8539537F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1854" y="2044955"/>
            <a:ext cx="6482586" cy="4580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89B200-7AD4-D7D7-9B69-48CE58A8BD18}"/>
              </a:ext>
            </a:extLst>
          </p:cNvPr>
          <p:cNvSpPr txBox="1"/>
          <p:nvPr/>
        </p:nvSpPr>
        <p:spPr>
          <a:xfrm>
            <a:off x="3571875" y="748145"/>
            <a:ext cx="5972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Schematics</a:t>
            </a:r>
          </a:p>
        </p:txBody>
      </p:sp>
    </p:spTree>
    <p:extLst>
      <p:ext uri="{BB962C8B-B14F-4D97-AF65-F5344CB8AC3E}">
        <p14:creationId xmlns:p14="http://schemas.microsoft.com/office/powerpoint/2010/main" val="104316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0F82-B326-1F08-106A-A25D0625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32F0-7A5F-411A-71A7-B7ECF055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80125-8255-FFAA-E07E-7A65180701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3F7069-6602-6B45-F192-0F1A595E7333}"/>
              </a:ext>
            </a:extLst>
          </p:cNvPr>
          <p:cNvSpPr txBox="1"/>
          <p:nvPr/>
        </p:nvSpPr>
        <p:spPr>
          <a:xfrm>
            <a:off x="3571875" y="676873"/>
            <a:ext cx="7517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 Tayloe Detector?</a:t>
            </a:r>
          </a:p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A13DC-FB19-3099-C034-8054A4FD9C1F}"/>
              </a:ext>
            </a:extLst>
          </p:cNvPr>
          <p:cNvSpPr txBox="1"/>
          <p:nvPr/>
        </p:nvSpPr>
        <p:spPr>
          <a:xfrm>
            <a:off x="1102178" y="2175729"/>
            <a:ext cx="671178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Tayloe detector (Quadrature Sampling Detector):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switching mixer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/>
              <a:t>• Uses a 4‑way analogue switch (74CBTLV3253)</a:t>
            </a:r>
          </a:p>
          <a:p>
            <a:endParaRPr lang="en-GB" dirty="0"/>
          </a:p>
          <a:p>
            <a:r>
              <a:rPr lang="en-GB" dirty="0"/>
              <a:t>• Driven at 4× the receive frequency</a:t>
            </a:r>
          </a:p>
          <a:p>
            <a:endParaRPr lang="en-GB" dirty="0"/>
          </a:p>
          <a:p>
            <a:r>
              <a:rPr lang="en-GB" dirty="0"/>
              <a:t>• Samples RF at 0°, 90°, 180°, 270°</a:t>
            </a:r>
          </a:p>
          <a:p>
            <a:endParaRPr lang="en-GB" dirty="0"/>
          </a:p>
          <a:p>
            <a:r>
              <a:rPr lang="en-GB" dirty="0"/>
              <a:t>• Opposing samples → I and Q</a:t>
            </a:r>
          </a:p>
        </p:txBody>
      </p:sp>
      <p:pic>
        <p:nvPicPr>
          <p:cNvPr id="9" name="Picture 8" descr="A diagram of a circuit&#10;&#10;AI-generated content may be incorrect.">
            <a:extLst>
              <a:ext uri="{FF2B5EF4-FFF2-40B4-BE49-F238E27FC236}">
                <a16:creationId xmlns:a16="http://schemas.microsoft.com/office/drawing/2014/main" id="{A088B1A9-35DE-8CF6-DD9B-67EF2276D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361" y="1879971"/>
            <a:ext cx="2746525" cy="1925771"/>
          </a:xfrm>
          <a:prstGeom prst="rect">
            <a:avLst/>
          </a:prstGeom>
        </p:spPr>
      </p:pic>
      <p:pic>
        <p:nvPicPr>
          <p:cNvPr id="3" name="Picture 2" descr="A blue circle with a green line and a green point&#10;&#10;AI-generated content may be incorrect.">
            <a:extLst>
              <a:ext uri="{FF2B5EF4-FFF2-40B4-BE49-F238E27FC236}">
                <a16:creationId xmlns:a16="http://schemas.microsoft.com/office/drawing/2014/main" id="{48764DFE-C561-2537-D590-5E83785A8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427" y="4174586"/>
            <a:ext cx="2438395" cy="230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2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5677-8BF0-D797-ABB7-4165EC56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195E-7170-807E-3817-570DFCF8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9F42E-B450-3888-A145-F93BC7908A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87BE38-D24B-E025-3816-65CA9F0F0553}"/>
              </a:ext>
            </a:extLst>
          </p:cNvPr>
          <p:cNvSpPr txBox="1"/>
          <p:nvPr/>
        </p:nvSpPr>
        <p:spPr>
          <a:xfrm>
            <a:off x="3571875" y="707651"/>
            <a:ext cx="80105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Capacitors: Where Baseband Comes From</a:t>
            </a:r>
          </a:p>
          <a:p>
            <a:pPr algn="ctr"/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86748-1456-963C-E5AD-ACE6CC8707FF}"/>
              </a:ext>
            </a:extLst>
          </p:cNvPr>
          <p:cNvSpPr txBox="1"/>
          <p:nvPr/>
        </p:nvSpPr>
        <p:spPr>
          <a:xfrm>
            <a:off x="1102178" y="2133600"/>
            <a:ext cx="761510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hold each sample long enough to turn RF into audio.</a:t>
            </a:r>
          </a:p>
          <a:p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points: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capacitor charges to the RF voltage at its sampling moment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samples it holds that voltage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held voltage varies slowly with the modulation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slow variation is the baseband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Opposing capacitors → I and Q</a:t>
            </a:r>
          </a:p>
        </p:txBody>
      </p:sp>
      <p:pic>
        <p:nvPicPr>
          <p:cNvPr id="7" name="Picture 6" descr="A diagram of a device&#10;&#10;AI-generated content may be incorrect.">
            <a:extLst>
              <a:ext uri="{FF2B5EF4-FFF2-40B4-BE49-F238E27FC236}">
                <a16:creationId xmlns:a16="http://schemas.microsoft.com/office/drawing/2014/main" id="{1316DBB8-E7C9-9C5E-18FF-86BC64F80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130" y="1668828"/>
            <a:ext cx="2160270" cy="3293212"/>
          </a:xfrm>
          <a:prstGeom prst="rect">
            <a:avLst/>
          </a:prstGeom>
        </p:spPr>
      </p:pic>
      <p:pic>
        <p:nvPicPr>
          <p:cNvPr id="9" name="Picture 8" descr="A blue circle with a green line and a green point&#10;&#10;AI-generated content may be incorrect.">
            <a:extLst>
              <a:ext uri="{FF2B5EF4-FFF2-40B4-BE49-F238E27FC236}">
                <a16:creationId xmlns:a16="http://schemas.microsoft.com/office/drawing/2014/main" id="{9993E696-64CA-0130-6043-B7E7103B9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639" y="5029690"/>
            <a:ext cx="1534159" cy="14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3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BBAE-FF1B-554F-244C-526B6FC8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BA59-6B33-7D40-28D5-195B88D9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2BD55-6E7B-ECF8-62E3-0405503446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D80293-E4BC-4CB6-48FE-D82DF779F79C}"/>
              </a:ext>
            </a:extLst>
          </p:cNvPr>
          <p:cNvSpPr txBox="1"/>
          <p:nvPr/>
        </p:nvSpPr>
        <p:spPr>
          <a:xfrm>
            <a:off x="3571875" y="830160"/>
            <a:ext cx="7116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I/Q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FEDAD-51C3-CF53-5078-2C844000B92D}"/>
              </a:ext>
            </a:extLst>
          </p:cNvPr>
          <p:cNvSpPr txBox="1"/>
          <p:nvPr/>
        </p:nvSpPr>
        <p:spPr>
          <a:xfrm>
            <a:off x="1102178" y="1999337"/>
            <a:ext cx="531894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I/Q gives software everything it needs.</a:t>
            </a:r>
          </a:p>
          <a:p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points: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Separate sidebands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Demodulate AM, SSB, CW, FM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 digital filters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Tune smoothly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 a spectrum</a:t>
            </a:r>
          </a:p>
          <a:p>
            <a:endParaRPr lang="en-GB" dirty="0"/>
          </a:p>
        </p:txBody>
      </p:sp>
      <p:pic>
        <p:nvPicPr>
          <p:cNvPr id="7" name="Picture 6" descr="A diagram of a device&#10;&#10;AI-generated content may be incorrect.">
            <a:extLst>
              <a:ext uri="{FF2B5EF4-FFF2-40B4-BE49-F238E27FC236}">
                <a16:creationId xmlns:a16="http://schemas.microsoft.com/office/drawing/2014/main" id="{548D48CC-0BE4-755E-0935-B45F1ACDE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437" y="1895961"/>
            <a:ext cx="2107883" cy="2318671"/>
          </a:xfrm>
          <a:prstGeom prst="rect">
            <a:avLst/>
          </a:prstGeom>
        </p:spPr>
      </p:pic>
      <p:pic>
        <p:nvPicPr>
          <p:cNvPr id="9" name="Picture 8" descr="A diagram of a sine wave&#10;&#10;AI-generated content may be incorrect.">
            <a:extLst>
              <a:ext uri="{FF2B5EF4-FFF2-40B4-BE49-F238E27FC236}">
                <a16:creationId xmlns:a16="http://schemas.microsoft.com/office/drawing/2014/main" id="{DE4192CF-B942-85F3-2E94-AC0BF7D21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322325"/>
            <a:ext cx="4592320" cy="21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8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1722-CCDA-4C38-9D04-4C10C1D9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8C0BC-D374-7C0C-078C-54BCA0C10B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F134DE-E6F5-4F03-5ABA-46B4854ABC27}"/>
              </a:ext>
            </a:extLst>
          </p:cNvPr>
          <p:cNvSpPr txBox="1"/>
          <p:nvPr/>
        </p:nvSpPr>
        <p:spPr>
          <a:xfrm>
            <a:off x="3571875" y="956641"/>
            <a:ext cx="7177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the Pico Does (1): LO + ADC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81A88-F909-DD8E-E108-311BDDD47657}"/>
              </a:ext>
            </a:extLst>
          </p:cNvPr>
          <p:cNvSpPr txBox="1"/>
          <p:nvPr/>
        </p:nvSpPr>
        <p:spPr>
          <a:xfrm>
            <a:off x="1102178" y="2153920"/>
            <a:ext cx="7777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Pico generates the LO and digitises I/Q.</a:t>
            </a:r>
          </a:p>
          <a:p>
            <a:endParaRPr lang="en-GB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points: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PIO generates a stable square‑wave LO (4× RF)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ADC samples I and Q at ~500 </a:t>
            </a:r>
            <a:r>
              <a:rPr lang="en-GB" sz="2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kS</a:t>
            </a: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/s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Produces digital I/Q streams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591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A54A-BE55-63DF-288F-0F071260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13F6-0975-FD81-FF07-68E724AC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373E0-A360-7EBE-5830-2586D56545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7D23AD-AC8D-B777-64B4-7A5C32CE856B}"/>
              </a:ext>
            </a:extLst>
          </p:cNvPr>
          <p:cNvSpPr txBox="1"/>
          <p:nvPr/>
        </p:nvSpPr>
        <p:spPr>
          <a:xfrm>
            <a:off x="3576503" y="956641"/>
            <a:ext cx="7513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the Pico Does (2): DSP + Audio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17FE2-A463-BD87-1623-06BFBE21B7DF}"/>
              </a:ext>
            </a:extLst>
          </p:cNvPr>
          <p:cNvSpPr txBox="1"/>
          <p:nvPr/>
        </p:nvSpPr>
        <p:spPr>
          <a:xfrm>
            <a:off x="1102178" y="1933575"/>
            <a:ext cx="794022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Pico becomes a complete radio in software.</a:t>
            </a:r>
          </a:p>
          <a:p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points: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 mixing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Filtering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AGC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Demodulation (AM, SSB, CW, FM)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Audio output via PWM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Optional PAM8403 amplifier for speaker or amplified speakers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520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0998-A3D3-931C-8C30-209ADC94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7FAA-861C-87B4-CFB3-3CA25FD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B7B4C-74D3-E8D4-EC72-F87E703737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508B92-BA1F-8BE6-0D08-99BFE4DDF3D0}"/>
              </a:ext>
            </a:extLst>
          </p:cNvPr>
          <p:cNvSpPr txBox="1"/>
          <p:nvPr/>
        </p:nvSpPr>
        <p:spPr>
          <a:xfrm>
            <a:off x="3607617" y="956641"/>
            <a:ext cx="7482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This SEMARC Project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DC095-8118-83A2-A694-6EBF430FC78D}"/>
              </a:ext>
            </a:extLst>
          </p:cNvPr>
          <p:cNvSpPr txBox="1"/>
          <p:nvPr/>
        </p:nvSpPr>
        <p:spPr>
          <a:xfrm>
            <a:off x="1122498" y="1942802"/>
            <a:ext cx="76809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hardware, powerful software.</a:t>
            </a:r>
          </a:p>
          <a:p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points: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 low parts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to build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to understand</a:t>
            </a: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Encourages experimentation </a:t>
            </a:r>
            <a:r>
              <a:rPr lang="en-GB" sz="20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Potential for add </a:t>
            </a:r>
            <a:r>
              <a:rPr lang="en-GB" sz="2000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ons</a:t>
            </a:r>
            <a:r>
              <a:rPr lang="en-GB" sz="20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a decoder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HF performance </a:t>
            </a:r>
            <a:r>
              <a:rPr lang="en-GB" sz="20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can be improved with simple band pass filters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i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Perfect for a club project – </a:t>
            </a:r>
            <a:r>
              <a:rPr lang="en-GB" sz="20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customisable by experimentation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303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A10B-3B24-A4EC-2D7A-31D94A7A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423A-A32A-FE5E-2090-AADE0D41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27271-A8AF-6B15-4AD0-1CABFEF319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A74B1-C216-BC9E-D369-F83140C8BBF3}"/>
              </a:ext>
            </a:extLst>
          </p:cNvPr>
          <p:cNvSpPr txBox="1"/>
          <p:nvPr/>
        </p:nvSpPr>
        <p:spPr>
          <a:xfrm>
            <a:off x="3571875" y="1122548"/>
            <a:ext cx="678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6FF12-07B3-CC4B-CC9D-9DFC17546195}"/>
              </a:ext>
            </a:extLst>
          </p:cNvPr>
          <p:cNvSpPr txBox="1"/>
          <p:nvPr/>
        </p:nvSpPr>
        <p:spPr>
          <a:xfrm>
            <a:off x="1617889" y="2060892"/>
            <a:ext cx="895622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Tayloe detector samples RF at four phases</a:t>
            </a:r>
          </a:p>
          <a:p>
            <a:pPr marL="342900" indent="-342900">
              <a:buFont typeface="Wingdings" pitchFamily="2" charset="2"/>
              <a:buChar char="v"/>
            </a:pP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Capacitors hold samples → baseband</a:t>
            </a:r>
          </a:p>
          <a:p>
            <a:pPr marL="342900" indent="-342900">
              <a:buFont typeface="Wingdings" pitchFamily="2" charset="2"/>
              <a:buChar char="v"/>
            </a:pP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Opposing samples → I/Q</a:t>
            </a:r>
          </a:p>
          <a:p>
            <a:pPr marL="342900" indent="-342900">
              <a:buFont typeface="Wingdings" pitchFamily="2" charset="2"/>
              <a:buChar char="v"/>
            </a:pP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Op‑amp boosts signals</a:t>
            </a:r>
          </a:p>
          <a:p>
            <a:pPr marL="342900" indent="-342900">
              <a:buFont typeface="Wingdings" pitchFamily="2" charset="2"/>
              <a:buChar char="v"/>
            </a:pP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Pico generates LO, digitises I/Q, runs DSP, outputs audio</a:t>
            </a:r>
          </a:p>
          <a:p>
            <a:pPr marL="342900" indent="-342900">
              <a:buFont typeface="Wingdings" pitchFamily="2" charset="2"/>
              <a:buChar char="v"/>
            </a:pP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hardware, powerful software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01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7DA6-7113-F466-D704-8FEEADAD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5474-BF6D-BE4D-4198-E56E9310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9966E-E2E9-C69F-5011-8FA3676678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2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E713-889B-C664-F09C-E231FDF7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1718-630C-5491-EACA-1EA72E73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5" y="381115"/>
            <a:ext cx="7781924" cy="1514846"/>
          </a:xfrm>
        </p:spPr>
        <p:txBody>
          <a:bodyPr/>
          <a:lstStyle/>
          <a:p>
            <a:pPr algn="ctr"/>
            <a:br>
              <a:rPr lang="en-GB" dirty="0"/>
            </a:b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8A53E-6827-6F80-F1C5-334246729D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</a:blip>
          <a:stretch>
            <a:fillRect/>
          </a:stretch>
        </p:blipFill>
        <p:spPr>
          <a:xfrm>
            <a:off x="1102178" y="365125"/>
            <a:ext cx="2469697" cy="151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0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694</Words>
  <Application>Microsoft Macintosh PowerPoint</Application>
  <PresentationFormat>Widescreen</PresentationFormat>
  <Paragraphs>152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PowerPoint Presentation</vt:lpstr>
      <vt:lpstr>Understanding SDR 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J Smith</dc:creator>
  <cp:lastModifiedBy>Graham J Smith</cp:lastModifiedBy>
  <cp:revision>12</cp:revision>
  <dcterms:created xsi:type="dcterms:W3CDTF">2025-12-11T15:24:02Z</dcterms:created>
  <dcterms:modified xsi:type="dcterms:W3CDTF">2026-01-15T09:45:42Z</dcterms:modified>
</cp:coreProperties>
</file>